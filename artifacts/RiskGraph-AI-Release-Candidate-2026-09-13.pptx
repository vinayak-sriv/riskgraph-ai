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f9dc65ac4f4971" /><Relationship Type="http://schemas.openxmlformats.org/officeDocument/2006/relationships/extended-properties" Target="/docProps/app.xml" Id="R77a540da666f4513" /><Relationship Type="http://schemas.openxmlformats.org/officeDocument/2006/relationships/officeDocument" Target="/ppt/presentation.xml" Id="R8e36b8d8d83e40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5d111d10074c99"/>
  </p:sldMasterIdLst>
  <p:notesMasterIdLst>
    <p:notesMasterId xmlns:r="http://schemas.openxmlformats.org/officeDocument/2006/relationships" r:id="Re44ff63764cd4176"/>
  </p:notesMasterIdLst>
  <p:sldIdLst>
    <p:sldId xmlns:r="http://schemas.openxmlformats.org/officeDocument/2006/relationships" id="256" r:id="R374d5619d3354ea3"/>
    <p:sldId xmlns:r="http://schemas.openxmlformats.org/officeDocument/2006/relationships" id="257" r:id="Rde1a2b4067914032"/>
    <p:sldId xmlns:r="http://schemas.openxmlformats.org/officeDocument/2006/relationships" id="258" r:id="Rfce96a7aec724f77"/>
    <p:sldId xmlns:r="http://schemas.openxmlformats.org/officeDocument/2006/relationships" id="259" r:id="R62cd8d25872947c6"/>
    <p:sldId xmlns:r="http://schemas.openxmlformats.org/officeDocument/2006/relationships" id="260" r:id="R427890e5f0bc4506"/>
    <p:sldId xmlns:r="http://schemas.openxmlformats.org/officeDocument/2006/relationships" id="261" r:id="R49e0d39cd4244d3e"/>
    <p:sldId xmlns:r="http://schemas.openxmlformats.org/officeDocument/2006/relationships" id="262" r:id="Rbb3f37df5165405d"/>
    <p:sldId xmlns:r="http://schemas.openxmlformats.org/officeDocument/2006/relationships" id="263" r:id="Rd0dba8ec55544aec"/>
    <p:sldId xmlns:r="http://schemas.openxmlformats.org/officeDocument/2006/relationships" id="264" r:id="R6a94bb2c37b540d7"/>
    <p:sldId xmlns:r="http://schemas.openxmlformats.org/officeDocument/2006/relationships" id="265" r:id="R52488d38d4a24e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a54b14f95a454a" /><Relationship Type="http://schemas.openxmlformats.org/officeDocument/2006/relationships/slideMaster" Target="/ppt/slideMasters/slideMaster1.xml" Id="Ree5d111d10074c99" /><Relationship Type="http://schemas.openxmlformats.org/officeDocument/2006/relationships/notesMaster" Target="/ppt/notesMasters/notesMaster1.xml" Id="Re44ff63764cd4176" /><Relationship Type="http://schemas.openxmlformats.org/officeDocument/2006/relationships/presProps" Target="/ppt/presProps.xml" Id="R8c91667c4cac42ab" /><Relationship Type="http://schemas.openxmlformats.org/officeDocument/2006/relationships/tableStyles" Target="/ppt/tableStyles.xml" Id="Rc1457eb937d64ae6" /><Relationship Type="http://schemas.openxmlformats.org/officeDocument/2006/relationships/slide" Target="/ppt/slides/slide1.xml" Id="R374d5619d3354ea3" /><Relationship Type="http://schemas.openxmlformats.org/officeDocument/2006/relationships/slide" Target="/ppt/slides/slide2.xml" Id="Rde1a2b4067914032" /><Relationship Type="http://schemas.openxmlformats.org/officeDocument/2006/relationships/slide" Target="/ppt/slides/slide3.xml" Id="Rfce96a7aec724f77" /><Relationship Type="http://schemas.openxmlformats.org/officeDocument/2006/relationships/slide" Target="/ppt/slides/slide4.xml" Id="R62cd8d25872947c6" /><Relationship Type="http://schemas.openxmlformats.org/officeDocument/2006/relationships/slide" Target="/ppt/slides/slide5.xml" Id="R427890e5f0bc4506" /><Relationship Type="http://schemas.openxmlformats.org/officeDocument/2006/relationships/slide" Target="/ppt/slides/slide6.xml" Id="R49e0d39cd4244d3e" /><Relationship Type="http://schemas.openxmlformats.org/officeDocument/2006/relationships/slide" Target="/ppt/slides/slide7.xml" Id="Rbb3f37df5165405d" /><Relationship Type="http://schemas.openxmlformats.org/officeDocument/2006/relationships/slide" Target="/ppt/slides/slide8.xml" Id="Rd0dba8ec55544aec" /><Relationship Type="http://schemas.openxmlformats.org/officeDocument/2006/relationships/slide" Target="/ppt/slides/slide9.xml" Id="R6a94bb2c37b540d7" /><Relationship Type="http://schemas.openxmlformats.org/officeDocument/2006/relationships/slide" Target="/ppt/slides/slide10.xml" Id="R52488d38d4a24e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41fa7066674b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18e50bcf954c60" /><Relationship Type="http://schemas.openxmlformats.org/officeDocument/2006/relationships/notesMaster" Target="/ppt/notesMasters/notesMaster1.xml" Id="Re802507fdfbc4f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34a8e330824bb0" /><Relationship Type="http://schemas.openxmlformats.org/officeDocument/2006/relationships/notesMaster" Target="/ppt/notesMasters/notesMaster1.xml" Id="Rbd5d8814afcd45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05923a010e4c72" /><Relationship Type="http://schemas.openxmlformats.org/officeDocument/2006/relationships/notesMaster" Target="/ppt/notesMasters/notesMaster1.xml" Id="Rea0f25cfd41c48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0c9ef269f34337" /><Relationship Type="http://schemas.openxmlformats.org/officeDocument/2006/relationships/notesMaster" Target="/ppt/notesMasters/notesMaster1.xml" Id="R6ad95dc233e847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3d1880c51b4381" /><Relationship Type="http://schemas.openxmlformats.org/officeDocument/2006/relationships/notesMaster" Target="/ppt/notesMasters/notesMaster1.xml" Id="Ra751f68f22444c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651d5347314ea2" /><Relationship Type="http://schemas.openxmlformats.org/officeDocument/2006/relationships/notesMaster" Target="/ppt/notesMasters/notesMaster1.xml" Id="Red258676336044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8079c1796b4539" /><Relationship Type="http://schemas.openxmlformats.org/officeDocument/2006/relationships/notesMaster" Target="/ppt/notesMasters/notesMaster1.xml" Id="R7ac43c77433646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c1b87b0c324640" /><Relationship Type="http://schemas.openxmlformats.org/officeDocument/2006/relationships/notesMaster" Target="/ppt/notesMasters/notesMaster1.xml" Id="R6782654c720f4b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892f0c4ab741f3" /><Relationship Type="http://schemas.openxmlformats.org/officeDocument/2006/relationships/notesMaster" Target="/ppt/notesMasters/notesMaster1.xml" Id="R5ea172a8b2bf47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1dabe2ecfc4be1" /><Relationship Type="http://schemas.openxmlformats.org/officeDocument/2006/relationships/notesMaster" Target="/ppt/notesMasters/notesMaster1.xml" Id="Rbb16f9c5dce74b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§§1–5 and docs/evidence/mvp-access-2026-09-10/validated.json.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§1, §2 and §11; docs/threat-model.md.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§2–§4 and §11;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docs/evidence/mvp-access-2026-09-10/validated.json. Values: risk_before 22, risk_after 91, delta 69, one new path, CONFIRMED, BLOCK.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§9; docs/evidence/mvp-access-2026-09-10/summary.json.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§8 quality gates; docs/week-plan.md; docs/release-readiness.md. Status reflects the release-candidate branch before GitHub CI and human sign-off.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datasets/external-spring/observed-results-2026-09-13.json. Values are endpoint/auth recall only; vulnerability precision/recall/F1 remain unset.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commits d9ee95e and 3b31c0f on codex/week-7-16-release-gates; docs/runtime-guide.md;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tools/dev/verify_release.py; tools/release/package.py; .github/workflows/ci.yml.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AGENTS.md §8 quality gates; datasets/external-spring/HUMAN_REVIEW.md; docs/release-readiness.md.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78304681343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c654f07a1400e" /><Relationship Type="http://schemas.openxmlformats.org/officeDocument/2006/relationships/slideLayout" Target="/ppt/slideLayouts/slideLayout1.xml" Id="R3acbc65fc26f43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cbc65fc26f43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0a5f57ba041ac" /><Relationship Type="http://schemas.openxmlformats.org/officeDocument/2006/relationships/notesSlide" Target="/ppt/notesSlides/notesSlide1.xml" Id="Ra184d202e92e44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40d2717064d96" /><Relationship Type="http://schemas.openxmlformats.org/officeDocument/2006/relationships/notesSlide" Target="/ppt/notesSlides/notesSlide2.xml" Id="R9d241cb010484a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3f050c12546f5" /><Relationship Type="http://schemas.openxmlformats.org/officeDocument/2006/relationships/notesSlide" Target="/ppt/notesSlides/notesSlide3.xml" Id="R41dd8e91701a4b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3bacd27c34faf" /><Relationship Type="http://schemas.openxmlformats.org/officeDocument/2006/relationships/chart" Target="/ppt/slides/charts/chart1.xml" Id="R0844a8b71bc54b68" /><Relationship Type="http://schemas.openxmlformats.org/officeDocument/2006/relationships/notesSlide" Target="/ppt/notesSlides/notesSlide4.xml" Id="R03aaa9f090604f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22aff19994381" /><Relationship Type="http://schemas.openxmlformats.org/officeDocument/2006/relationships/notesSlide" Target="/ppt/notesSlides/notesSlide5.xml" Id="Rcee7a350ad4644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adcab4d12443e" /><Relationship Type="http://schemas.openxmlformats.org/officeDocument/2006/relationships/notesSlide" Target="/ppt/notesSlides/notesSlide6.xml" Id="Rcabc6cad2de647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fbf4d2afc4cdd" /><Relationship Type="http://schemas.openxmlformats.org/officeDocument/2006/relationships/chart" Target="/ppt/slides/charts/chart2.xml" Id="Rebd66cf439dd4edf" /><Relationship Type="http://schemas.openxmlformats.org/officeDocument/2006/relationships/notesSlide" Target="/ppt/notesSlides/notesSlide7.xml" Id="Reb31c4ce37414e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6491efb9e4b78" /><Relationship Type="http://schemas.openxmlformats.org/officeDocument/2006/relationships/notesSlide" Target="/ppt/notesSlides/notesSlide8.xml" Id="R801c7b1c2c0546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b59da22dc4ebc" /><Relationship Type="http://schemas.openxmlformats.org/officeDocument/2006/relationships/notesSlide" Target="/ppt/notesSlides/notesSlide9.xml" Id="Rfaaf40b08bb242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b1be595894713" /><Relationship Type="http://schemas.openxmlformats.org/officeDocument/2006/relationships/notesSlide" Target="/ppt/notesSlides/notesSlide10.xml" Id="Rd8936305598a479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Risk score</c:v>
          </c:tx>
          <c:spPr>
            <a:solidFill xmlns:a="http://schemas.openxmlformats.org/drawingml/2006/main">
              <a:srgbClr val="38BDF8"/>
            </a:solidFill>
          </c:spPr>
          <c:cat>
            <c:strRef>
              <c:f>'Chart Data'!$A$2:$A$3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22</c:v>
                </c:pt>
                <c:pt idx="1">
                  <c:v>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Endpoint/auth recall (%)</c:v>
          </c:tx>
          <c:spPr>
            <a:solidFill xmlns:a="http://schemas.openxmlformats.org/drawingml/2006/main">
              <a:srgbClr val="2DD4BF"/>
            </a:solidFill>
          </c:spPr>
          <c:cat>
            <c:strRef>
              <c:f>'Chart Data'!$A$2:$A$3</c:f>
              <c:strCache>
                <c:ptCount val="2"/>
                <c:pt idx="0">
                  <c:v>Petclinic</c:v>
                </c:pt>
                <c:pt idx="1">
                  <c:v>REST guide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B79D2-CC02-4ABA-B98B-C7EA7CA9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A19AC-FA60-4F9B-BA8B-F3F7CA38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RISKGRAPH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F7DC3-7744-46F0-AC85-E310CA66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Security changes,</a:t>
            </a:r>
          </a:p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explained by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8D0DD-41C9-48BB-A56F-A573847D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Deterministic graph analysis for Java + Spring Boot pull requests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9D810-6FE8-4E18-BDC6-8F8CEC1E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62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B43"/>
          </a:solidFill>
          <a:ln xmlns:a="http://schemas.openxmlformats.org/drawingml/2006/main" w="47625">
            <a:solidFill>
              <a:srgbClr val="38BDF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22  →  91</a:t>
            </a:r>
          </a:p>
          <a:p xmlns:a="http://schemas.openxmlformats.org/drawingml/2006/main">
            <a:pPr algn="ctr">
              <a:defRPr sz="21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ALLOW     BLOCK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EB8C4-9421-4889-A7A5-4242001E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Release-candidate engineering review · 13 Sep 2026</a:t>
            </a:r>
          </a:p>
        </p:txBody>
      </p:sp>
    </p:spTree>
    <p:extLst>
      <p:ext uri="{BB962C8B-B14F-4D97-AF65-F5344CB8AC3E}">
        <p14:creationId xmlns:p14="http://schemas.microsoft.com/office/powerpoint/2010/main" val="450942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E4A0A-47F6-4190-889E-B6265B0A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D9717-26F9-4EF2-A360-D637C78B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code diff can create a new attack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2E15C-BE78-407D-B1E0-19FA71C3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6E9C3-8ABC-4483-A52E-5E382044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Traditional review sees changed lines. RiskGraph asks what became reachable.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7A223-6FBE-476A-99C3-70E3F6D7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0289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47F85-D2BB-42EE-8303-E39D2B75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UNTRUSTED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E7A32-FA6E-48F9-B07D-C4F8F19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Anonymous 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5AD87-F59E-4E75-8989-15FAF015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67000"/>
            <a:ext cx="30289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E683A-23A8-4C2F-89B9-6165A7A9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86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1CDD8-BC99-4268-8750-F78B4EFB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95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Authorization removed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B7377-4A79-45EB-BD5E-82FC77B1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3028950" cy="156210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47F08-B0B2-47B7-9E1D-C1A41D66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860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4F7E5-1A74-4AC2-8EE5-5E4DCF2F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956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Payment data reachable</a:t>
            </a:r>
          </a:p>
        </p:txBody>
      </p: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52850" y="344805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DD1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610475" y="3448050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9BDD1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F0C33-DF86-4620-BAE4-44EDA38E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95875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Core rule: evidence first → graph facts → advisory AI → sandbox confirmation</a:t>
            </a:r>
          </a:p>
        </p:txBody>
      </p:sp>
    </p:spTree>
    <p:extLst>
      <p:ext uri="{BB962C8B-B14F-4D97-AF65-F5344CB8AC3E}">
        <p14:creationId xmlns:p14="http://schemas.microsoft.com/office/powerpoint/2010/main" val="387990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B1776-EB39-499C-A77B-A29DFC91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37685-21CC-408C-9002-8767A96B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Ten stages, one source of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3F5B7-0D60-462B-9064-8713599E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90B9B-3AA2-4F18-923A-FF1DBF12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19240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98ACD-F898-497B-A4A4-27F90E0B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1–3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05630-59C6-4ED7-950D-C8CE7079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Diff · Spoon · 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A16E7-7607-4C32-A069-EEF53EAD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47900"/>
            <a:ext cx="19240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7E9FA-2D36-42FD-99E9-39CC514D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2887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4–6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5E965-2498-4AB6-9DD1-CB076658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Graph · paths ·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C63C2-C950-42DD-930C-1094142E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19240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96D29-C881-440D-8AA9-83C57038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2887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7–8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AE919-5776-4926-9E1B-C82E3EBA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AI explanation ·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B0BE9-7F26-44FE-8EFB-B7EC219A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19240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85B1E-BC1D-4528-9E34-F0DF67DB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2887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23506-171C-4298-A8D2-E941A2DA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099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Docker-only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9927D-79D0-4700-8932-F5D008A1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47900"/>
            <a:ext cx="1924050" cy="16764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F1B6E-29D2-41CA-9EFB-89B9A5B2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28875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18146-206E-414A-BE9C-63216B9D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099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ALLOW · REVIEW · BLOCK</a:t>
            </a:r>
          </a:p>
        </p:txBody>
      </p: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3086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435E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00600" y="3086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435E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24700" y="3086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435E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448800" y="30861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9435E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9527E-7515-4965-93E2-95814F13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LLM never creates edges, scores risk, or confirms a vulnerability.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54F38-07DF-4B58-96B4-19CCBF54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Every downstream module consumes the locked JSON IR—not raw source.</a:t>
            </a:r>
          </a:p>
        </p:txBody>
      </p:sp>
    </p:spTree>
    <p:extLst>
      <p:ext uri="{BB962C8B-B14F-4D97-AF65-F5344CB8AC3E}">
        <p14:creationId xmlns:p14="http://schemas.microsoft.com/office/powerpoint/2010/main" val="940420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CBFB29-D2F3-4B49-A1E1-09AABDC3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VALIDATED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769ED-173C-474C-9D35-EF2707E3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Authorization removal moves risk 22 → 91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9CA0C-A607-4123-9740-0CD9CB79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6572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44a8b71bc54b6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62A4A-A9B1-43DF-8F87-3F0004DD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4290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1C170-5BA4-4243-AE3B-8EC97398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050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+69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A6724-47E5-4B79-8255-DEDA7181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76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risk delta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2F477-E02B-4465-8877-4AF28F5F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1 new anonymous path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CRITICAL Payment resource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Docker probe: CONFIRMED</a:t>
            </a:r>
          </a:p>
          <a:p xmlns:a="http://schemas.openxmlformats.org/drawingml/2006/main">
            <a:pPr algn="ctr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Final verdict: BLOCK</a:t>
            </a:r>
          </a:p>
        </p:txBody>
      </p:sp>
    </p:spTree>
    <p:extLst>
      <p:ext uri="{BB962C8B-B14F-4D97-AF65-F5344CB8AC3E}">
        <p14:creationId xmlns:p14="http://schemas.microsoft.com/office/powerpoint/2010/main" val="1036433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41712-EE8C-4237-B0C0-8D6BBDC3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ACCEPTANCE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15AB2-5EC3-4052-81D0-2A810BA0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demo proves both sensitivity and restraint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BE041-4E8E-40F3-B98C-11AC6A0F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571750"/>
                <a:gridCol w="1809750"/>
                <a:gridCol w="2476500"/>
              </a:tblGrid>
              <a:tr h="6858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Scenario</a:t>
                      </a:r>
                    </a:p>
                  </a:txBody>
                  <a:tcPr marL="133350" marR="133350" marT="95250" marB="9525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Before → after</a:t>
                      </a:r>
                    </a:p>
                  </a:txBody>
                  <a:tcPr marL="133350" marR="133350" marT="95250" marB="9525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New paths</a:t>
                      </a:r>
                    </a:p>
                  </a:txBody>
                  <a:tcPr marL="133350" marR="133350" marT="95250" marB="95250"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Verdict</a:t>
                      </a:r>
                    </a:p>
                  </a:txBody>
                  <a:tcPr marL="133350" marR="133350" marT="95250" marB="95250">
                    <a:solidFill>
                      <a:srgbClr val="38BD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Authorization removal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22 → 91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BLOCK</a:t>
                      </a:r>
                    </a:p>
                  </a:txBody>
                  <a:tcPr marL="133350" marR="133350" marT="95250" marB="95250">
                    <a:solidFill>
                      <a:srgbClr val="3A1B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Safe cosmetic change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22 → 22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ALLOW</a:t>
                      </a:r>
                    </a:p>
                  </a:txBody>
                  <a:tcPr marL="133350" marR="133350" marT="95250" marB="95250">
                    <a:solidFill>
                      <a:srgbClr val="1237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New public sensitive endpoint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0 → 65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BLOCK</a:t>
                      </a:r>
                    </a:p>
                  </a:txBody>
                  <a:tcPr marL="133350" marR="133350" marT="95250" marB="95250">
                    <a:solidFill>
                      <a:srgbClr val="3A1B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Sensitive resource exposure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0 → 65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33350" marT="95250" marB="9525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BLOCK</a:t>
                      </a:r>
                    </a:p>
                  </a:txBody>
                  <a:tcPr marL="133350" marR="133350" marT="95250" marB="95250">
                    <a:solidFill>
                      <a:srgbClr val="3A1B2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55E74-C666-489D-BAD1-725D5EB5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388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A safe change stays ALLOW: the system does not manufacture risk from ordinary diffs.</a:t>
            </a:r>
          </a:p>
        </p:txBody>
      </p:sp>
    </p:spTree>
    <p:extLst>
      <p:ext uri="{BB962C8B-B14F-4D97-AF65-F5344CB8AC3E}">
        <p14:creationId xmlns:p14="http://schemas.microsoft.com/office/powerpoint/2010/main" val="3650575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4C26B-176A-40DF-A59E-B21E8FA9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16-WEEK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CF8CB-E8FE-4065-82B4-D71FA7CB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What is complete—and what is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7AFB1-CA12-42D7-BBEC-E6A3829A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95450"/>
          <a:ext xmlns:a="http://schemas.openxmlformats.org/drawingml/2006/main" cx="108585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6191250"/>
                <a:gridCol w="2381250"/>
              </a:tblGrid>
              <a:tr h="6270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133350" marR="133350" marT="85725" marB="85725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Evidence now</a:t>
                      </a:r>
                    </a:p>
                  </a:txBody>
                  <a:tcPr marL="133350" marR="133350" marT="85725" marB="85725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8111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133350" marR="133350" marT="85725" marB="85725">
                    <a:solidFill>
                      <a:srgbClr val="2DD4B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Weeks 1–7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Contracts, source extraction, identity, risk scope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COMPLETE</a:t>
                      </a:r>
                    </a:p>
                  </a:txBody>
                  <a:tcPr marL="133350" marR="133350" marT="76200" marB="76200">
                    <a:solidFill>
                      <a:srgbClr val="12372E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Weeks 8–10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Native E2E + prior Docker confirmation; CI rerun added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CI PENDING</a:t>
                      </a:r>
                    </a:p>
                  </a:txBody>
                  <a:tcPr marL="133350" marR="133350" marT="76200" marB="76200">
                    <a:solidFill>
                      <a:srgbClr val="3B2E12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Week 11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Real PR workflow + SARIF + stable fingerprints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PR PENDING</a:t>
                      </a:r>
                    </a:p>
                  </a:txBody>
                  <a:tcPr marL="133350" marR="133350" marT="76200" marB="76200">
                    <a:solidFill>
                      <a:srgbClr val="3B2E12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Week 12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2 OSS runs complete; independent human review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REVIEW PENDING</a:t>
                      </a:r>
                    </a:p>
                  </a:txBody>
                  <a:tcPr marL="133350" marR="133350" marT="76200" marB="76200">
                    <a:solidFill>
                      <a:srgbClr val="3B2E12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Weeks 13–16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Regression, package, scans, deck; final tag gated</a:t>
                      </a:r>
                    </a:p>
                  </a:txBody>
                  <a:tcPr marL="133350" marR="133350" marT="76200" marB="76200">
                    <a:solidFill>
                      <a:srgbClr val="10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8FAFC"/>
                          </a:solidFill>
                          <a:latin typeface="Arial"/>
                          <a:ea typeface="Arial"/>
                          <a:cs typeface="Arial"/>
                        </a:rPr>
                        <a:t>IN PROGRESS</a:t>
                      </a:r>
                    </a:p>
                  </a:txBody>
                  <a:tcPr marL="133350" marR="133350" marT="76200" marB="76200">
                    <a:solidFill>
                      <a:srgbClr val="3B2E1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C4B66-97F7-4BA9-A81D-867410EB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The marker advances only after automated, tested, documented, reproducible evidence.</a:t>
            </a:r>
          </a:p>
        </p:txBody>
      </p:sp>
    </p:spTree>
    <p:extLst>
      <p:ext uri="{BB962C8B-B14F-4D97-AF65-F5344CB8AC3E}">
        <p14:creationId xmlns:p14="http://schemas.microsoft.com/office/powerpoint/2010/main" val="743436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001E2-FDA3-4085-91AB-215F4D89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WEEK 12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97FD0-5EC0-4D45-B766-6B5A7E9F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External checks expose the analyzer’s real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BB2D8-142A-4976-ABCB-F59C47BF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d66cf439dd4ed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18855-2E19-450D-88B9-3B0FD4BE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05000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FF9C0-58B7-49DA-B8B4-1F4DD855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PETCLINIC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1300C-8537-407B-9C0D-5FA8FD3C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2 / 2 rows</a:t>
            </a:r>
          </a:p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Ambiguous resource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29850-D6C7-4078-A9A7-501B51BF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67125"/>
            <a:ext cx="333375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DE9B5-17C8-4A2F-9192-691FD8D4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REST GUIDE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B529B-55C3-4ED6-9B4A-3987AF7C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0 / 2 rows</a:t>
            </a:r>
          </a:p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Spoon model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13886-3224-479D-ACF2-A681A0C3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Both remain REVIEW. Human label review is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631190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68EE1-3D72-4452-968A-BD7536C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ENGINEERING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BA823-C1FD-4EA3-8FE0-98F4485B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Release hardening closes the audit’s highest-risk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0D8BD-33ED-415D-B585-239DD11B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F7E9A-DECE-43B2-8A67-3C291959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BB610-0DC1-4B22-81C6-D75EC01D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B1C3C-E939-4710-A123-1E6DE960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Stable repository identity + unique project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4DB22-9134-4B1F-9EA9-62A74EFE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1450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2DD4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33A04-ED66-403F-A1D5-F93DB7A1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85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CORRECTNESS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18A86-0C3D-4F4C-A204-2BA646D5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09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Risk compares the same route/resource 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E979A-6A85-43D8-BA88-37DB7156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CECE9-8B73-431E-9599-F81C611A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7923E-53DD-4E54-B5F9-0DC95D0C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Atomic validation merge + provider backpressure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4E066-99A2-4F3A-8028-00D47E33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95625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B9A71-55D5-415C-AF4C-C1B3B05A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2670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5AD74-8CE0-4A7C-A4F8-5A09027B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90925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Account/IP rate limits; explicit local GitHub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F2FFC-6E7A-4E93-8AB0-8270642C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A94EE-4BE8-44C0-A0DE-18FCBDDC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7185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C2411-55FE-4623-A479-DEB8AD7B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Digest-pinned images + Trivy CI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52970-B4D6-4265-B22E-4E054229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76750"/>
            <a:ext cx="5143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1674A-65F8-4FE3-B886-9F409B3E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648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BCB17-733A-490C-9585-E3112832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97205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Verified deterministic ZIP + SHA-256 manifest</a:t>
            </a:r>
          </a:p>
        </p:txBody>
      </p:sp>
    </p:spTree>
    <p:extLst>
      <p:ext uri="{BB962C8B-B14F-4D97-AF65-F5344CB8AC3E}">
        <p14:creationId xmlns:p14="http://schemas.microsoft.com/office/powerpoint/2010/main" val="21394285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DD476-1A70-4DB0-854A-C880EDFA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RELEASE REHEARSAL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86A2F-47DD-4360-A52A-D4E14FE8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A release claim is a bundle of reproducible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5FF3F-0443-482B-A3CE-46566E9E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F1497-ACF1-41A7-84EF-582E579E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A7F0A-5ABA-4BE2-9D44-24827C9D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621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18771-94C9-4E7F-80EF-0488AD02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764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Run all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574C3-D434-4118-98F0-86653640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954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Python · Maven · 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788BD-724D-473F-A55B-6B2D034A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8A680-7BCE-4A55-BA27-C9DA6D38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03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3D076-8DBD-4479-8FCD-97B7BA6E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146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Exercise containers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61764-F937-4664-B632-70011AF7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Compose · DinD · sandbox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31B46-1B45-4B3F-8436-227C6031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A35E4-E9AC-478B-B889-E9792847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719A1-8282-45E6-9045-4D44612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528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Scan supply 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C329F-DEDC-4579-ADAF-D89F61DD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71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Critical CVEs · secrets · config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882C6-1AE0-4205-9E0F-81BC4CC9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E640D9-8A7C-4AB3-97A3-011998E4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A69E1-162F-4C4F-BE60-A010001B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Package deterministically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5283CD-9ACB-4748-8B01-DE458D47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Sorted files · fixed timestamps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3713B-33CD-4D2C-AE30-33668D1B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F715A-376F-44C5-998D-63A60695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1495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3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C473F-32C1-453C-956E-9B0CDF51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Publish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DD06B-FA8D-4B7E-B5ED-B50065C6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DD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9BDD1"/>
                </a:solidFill>
                <a:latin typeface="Arial"/>
                <a:ea typeface="Arial"/>
                <a:cs typeface="Arial"/>
              </a:rPr>
              <a:t>ZIP · SHA-256 · CI artifacts</a:t>
            </a:r>
          </a:p>
        </p:txBody>
      </p:sp>
    </p:spTree>
    <p:extLst>
      <p:ext uri="{BB962C8B-B14F-4D97-AF65-F5344CB8AC3E}">
        <p14:creationId xmlns:p14="http://schemas.microsoft.com/office/powerpoint/2010/main" val="17929513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10B83-D0D6-4172-8DF6-31C76DB9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HONEST RELEASE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3DDEB-E4A4-4BD0-A6AA-E82ED581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Engineering-complete is not</a:t>
            </a:r>
          </a:p>
          <a:p xmlns:a="http://schemas.openxmlformats.org/drawingml/2006/main">
            <a:pPr algn="l">
              <a:defRPr sz="32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the same as submission-complete.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BC98D-4A9D-4296-BE18-C5B20862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4905375" cy="186690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FF262-D41D-4B73-8482-5881B4F6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4D399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0B823-5FA1-4E8E-9481-65075BE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Core fixes · regression generation</a:t>
            </a:r>
          </a:p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external runs · release automation</a:t>
            </a:r>
          </a:p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security hardening ·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AEFEE-E018-4C14-B4CB-23E70757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05150"/>
            <a:ext cx="4905375" cy="186690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102238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9BF3D-72EC-429D-8136-02F8F92F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MUST PASS BEFORE v1.0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955A3-B414-4826-A6A7-EEE805CC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Real PR checks · Docker CI smoke</a:t>
            </a:r>
          </a:p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independent human label review</a:t>
            </a:r>
          </a:p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release approval · final tag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3F140-3155-45FC-9579-257A6EB7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RiskGraph blocks unsafe reachability—</a:t>
            </a:r>
          </a:p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BDF8"/>
                </a:solidFill>
                <a:latin typeface="Arial"/>
                <a:ea typeface="Arial"/>
                <a:cs typeface="Arial"/>
              </a:rPr>
              <a:t>and unsupported release claims too.</a:t>
            </a:r>
          </a:p>
        </p:txBody>
      </p:sp>
    </p:spTree>
    <p:extLst>
      <p:ext uri="{BB962C8B-B14F-4D97-AF65-F5344CB8AC3E}">
        <p14:creationId xmlns:p14="http://schemas.microsoft.com/office/powerpoint/2010/main" val="1144431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2026-09-13T17:15:08.4310000Z</dcterms:created>
  <dcterms:modified xsi:type="dcterms:W3CDTF">2026-09-13T17:15:08.4310000Z</dcterms:modified>
</coreProperties>
</file>